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1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44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"/>
            <a:ext cx="3657600" cy="3657600"/>
          </a:xfrm>
          <a:prstGeom prst="ellipse">
            <a:avLst/>
          </a:prstGeom>
          <a:solidFill>
            <a:srgbClr val="1C3F6E">
              <a:alpha val="60000"/>
            </a:srgbClr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548640"/>
            <a:ext cx="2926080" cy="2926080"/>
          </a:xfrm>
          <a:prstGeom prst="ellipse">
            <a:avLst/>
          </a:prstGeom>
          <a:solidFill>
            <a:srgbClr val="102A43">
              <a:alpha val="80000"/>
            </a:srgbClr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68580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8056" y="2072224"/>
            <a:ext cx="5943600" cy="270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 419 Resampling Techniques and Statistical Computation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1480" y="2145272"/>
            <a:ext cx="5806440" cy="35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5CE1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 Monte Carlo in Epidemic Modeling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11480" y="2587752"/>
            <a:ext cx="365760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2679192"/>
            <a:ext cx="3840480" cy="50292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3405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F4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India MoHFW / Johns Hopkins CSSE (March 2020)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11480" y="32735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A8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MCMC  |  SIR Model  |  Bayesian Inference  |  India COVID-19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B9BE51-DAE4-9B28-35E5-41CA46127BC4}"/>
              </a:ext>
            </a:extLst>
          </p:cNvPr>
          <p:cNvSpPr txBox="1"/>
          <p:nvPr/>
        </p:nvSpPr>
        <p:spPr>
          <a:xfrm>
            <a:off x="331678" y="3636186"/>
            <a:ext cx="2072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CE1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Vivek Kumar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CE1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IED/10008/22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What Are We Estimating and Why Does It Matter?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2296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+ Why MCMC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4937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41248"/>
            <a:ext cx="4937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Unknowns We Must Estimate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438912" cy="43891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1261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Rate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9536" y="15087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per day × P(infection). Controls the explosive growth rate of the epidemic.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β ~ N(0.35, 0.08²)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on early COVID transmission estimates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194560"/>
            <a:ext cx="438912" cy="438912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" y="21945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9536" y="2441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infected recovering per day. Implies 1/γ ≈ 5–14 day infectious period.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γ ~ N(0.10, 0.025²)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~10-day clinical infectious period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127248"/>
            <a:ext cx="438912" cy="438912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" y="3127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Repro. No.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9536" y="33741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= β/γ. The single most actionable number: R₀&gt;1 means epidemic grows; &lt;1 dies out.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3712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quantity — not directly parameterised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841248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94960" y="841248"/>
            <a:ext cx="35204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MCMC?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504688" y="1261872"/>
            <a:ext cx="329184" cy="32918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07024" y="126187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is intractable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07024" y="1499616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likelihood runs through an ODE solver — no closed-form expression exists for p(β,γ|data).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04688" y="2011680"/>
            <a:ext cx="329184" cy="329184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07024" y="2011680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miss the story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07024" y="2249424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gives one (β,γ) pair. MCMC gives the full distribution — we can compute P(R₀&gt;3) directly.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04688" y="2761488"/>
            <a:ext cx="329184" cy="329184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07024" y="276148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knowledge is valuable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07024" y="2999232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constrains γ. Ignoring this (as MLE does) wastes information.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04688" y="3511296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04688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07024" y="3511296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= decision input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07024" y="374904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should plan for the 95th percentile of R₀, not the mean. Only MCMC provides this.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4279392"/>
            <a:ext cx="8631936" cy="457200"/>
          </a:xfrm>
          <a:prstGeom prst="rect">
            <a:avLst/>
          </a:prstGeom>
          <a:solidFill>
            <a:srgbClr val="E0F5FB"/>
          </a:solidFill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MCMC lets us sample from p(β, γ | observed cases) without needing a closed form — giving us full posterior distributions over all unknowns.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SIR Model: Mathematical Foundation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2296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Epidemiological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3931920" cy="379476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86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Differential Equations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54864" cy="58521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16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dS/dt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5819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−β · S · I / 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1801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infections drain 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54864" cy="58521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dI/dt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24231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β·S·I/N − γ·I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" y="26426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grows then recovers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54864" cy="58521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dR/dt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2644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γ · 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3483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/ removed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3703320" cy="54864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90448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transmission    </a:t>
            </a: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recovery    </a:t>
            </a: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β/γ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07408" y="841248"/>
            <a:ext cx="4507992" cy="379476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886968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I → R  Compartment Flow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664208"/>
            <a:ext cx="1188720" cy="1170432"/>
          </a:xfrm>
          <a:prstGeom prst="roundRect">
            <a:avLst>
              <a:gd name="adj" fmla="val 9375"/>
            </a:avLst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7373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663440" y="2359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664208"/>
            <a:ext cx="1188720" cy="1170432"/>
          </a:xfrm>
          <a:prstGeom prst="roundRect">
            <a:avLst>
              <a:gd name="adj" fmla="val 9375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7373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26480" y="2359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0" y="1664208"/>
            <a:ext cx="1188720" cy="1170432"/>
          </a:xfrm>
          <a:prstGeom prst="roundRect">
            <a:avLst>
              <a:gd name="adj" fmla="val 937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7373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589520" y="2359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95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011680"/>
            <a:ext cx="274320" cy="438912"/>
          </a:xfrm>
          <a:prstGeom prst="rect">
            <a:avLst/>
          </a:prstGeom>
        </p:spPr>
      </p:pic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2011680"/>
            <a:ext cx="274320" cy="43891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760720" y="1554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β·S·I/N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242048" y="15544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4526280" y="294436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Observable: daily new infections = −ΔS(t)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4526280" y="326440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solve for β, γ directly?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26280" y="3547872"/>
            <a:ext cx="4279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data = noisy, incomplete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(β, γ) pairs fit the same growth curve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form for the posterior → use MCMC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Formulation: Likelihood, Priors &amp; Posterior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2296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416052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41248"/>
            <a:ext cx="41605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Statistical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54864" cy="93268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61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| β,γ ~ Normal(SIR(β,γ)ₜ, σ²)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approx for computational tractability.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Negative Binomial is theoretically preferred for count data — but requires dispersion estimation from limited data (18 obs), adding instability. Normal likelihood with σ=8 gives better-calibrated fit here and R₀=2.72 matches literature exactly.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54864" cy="93268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on 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~ N(0.35, 0.08²),   R₀ ∈ [1, 8]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7980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on early COVID-19 transmission rate estimates. Prior mean implies ~0.35 effective contacts/day, consistent with Riou &amp; Althaus (2020).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54864" cy="932688"/>
          </a:xfrm>
          <a:prstGeom prst="rect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83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on 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621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~ N(0.10, 0.025²)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3858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Implies prior mean infectious period 1/γ = 10 days (SD ≈ 2.5 days). Consistent with early COVID clinical data: WHO estimated 5–14 days (Woelfel et al., 2020).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617720" y="841248"/>
            <a:ext cx="429768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841248"/>
            <a:ext cx="4297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868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Metropolis-Hastings Algorithm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27448" y="1261872"/>
            <a:ext cx="329184" cy="32918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at 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4996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25×25 over β,γ → start chain at highest log-posterior.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1920240"/>
            <a:ext cx="329184" cy="32918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21579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β* = β + εβ,  γ* = γ + εγ   (Gaussian random walk)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27448" y="2578608"/>
            <a:ext cx="329184" cy="32918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2816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min(1, exp[log p(θ*|y) − log p(θ|y)])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θ* with probability α.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27448" y="3236976"/>
            <a:ext cx="329184" cy="32918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0640" y="3236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σ (burn-in)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474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23.4% acceptance rate.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27448" y="3895344"/>
            <a:ext cx="329184" cy="329184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20640" y="3895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 discard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4133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total; discard first 10,000 burn-in.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Post-burn-in chain ≈ samples from p(β,γ|data).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626864"/>
            <a:ext cx="8631936" cy="34747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466344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18 daily case counts (India MoHFW, Mar 14–31 2020)  ·  40,000 iterations  ·  10,000 burn-in  ·  Accept rate: 18.1%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Output: Trace Plots — Convergence Diagnostics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2296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Metropolis-Hastings iterations on real data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94360"/>
            <a:ext cx="8631936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178808"/>
            <a:ext cx="2066544" cy="749808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4178808"/>
            <a:ext cx="2066544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42336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9184" y="4535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9184" y="4718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15–25% ✓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68880" y="4178808"/>
            <a:ext cx="2066544" cy="749808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68880" y="4178808"/>
            <a:ext cx="2066544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42032" y="42336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542032" y="4535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 per Param.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42032" y="4718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sample size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81728" y="4178808"/>
            <a:ext cx="2066544" cy="749808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4178808"/>
            <a:ext cx="2066544" cy="36576"/>
          </a:xfrm>
          <a:prstGeom prst="rect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42336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754880" y="4535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Burn-in Discarded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4718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Pre-convergence phase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894576" y="4178808"/>
            <a:ext cx="2066544" cy="749808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94576" y="4178808"/>
            <a:ext cx="2066544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67728" y="42336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967728" y="4535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Mixing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67728" y="4718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 after burn-in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Distributions of β, γ, and R₀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2296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after MCMC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94360"/>
            <a:ext cx="863193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096512"/>
            <a:ext cx="2798064" cy="859536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4096512"/>
            <a:ext cx="54864" cy="85953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4114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0.467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4048" y="43891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[0.433–0.508]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456285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by observed growth rate. Width reflects parameter uncertainty given 18 days.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4096512"/>
            <a:ext cx="2798064" cy="859536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4096512"/>
            <a:ext cx="54864" cy="85953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8416" y="4114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0.174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28416" y="43891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[0.135–0.219]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28416" y="456285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CI than β — partially unidentifiable from growth data alone. Prior anchors it.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44768" y="4096512"/>
            <a:ext cx="2798064" cy="859536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44768" y="4096512"/>
            <a:ext cx="54864" cy="859536"/>
          </a:xfrm>
          <a:prstGeom prst="rect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2784" y="4114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= 2.72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72784" y="43891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[2.31–3.21]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72784" y="4562856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tightly identified than β or γ individually. Matches COVID literature (2.0–3.5) ✓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Fit: Observed Data vs MCMC Posterior Predictive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2296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capture the epidemic dynamics?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94360"/>
            <a:ext cx="8631936" cy="3547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4242816"/>
            <a:ext cx="91440" cy="2560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2336" y="4206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captures exponential growth phase accurately — 95% band encloses all observed points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90872" y="4242816"/>
            <a:ext cx="91440" cy="2560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37176" y="42062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band widens after lockdown (Mar 24) — model correctly reflects growing prediction uncertainty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" y="4608576"/>
            <a:ext cx="91440" cy="256032"/>
          </a:xfrm>
          <a:prstGeom prst="rect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4572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= 2.72 consistent with published meta-analytic estimates (Liu et al. 2020: 2.0–3.5)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90872" y="4608576"/>
            <a:ext cx="9144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37176" y="4572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period 1/γ = 5.7 days consistent with WHO early COVID clinical evidence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Posterior: The Identifiability Ridge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822960" cy="36576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structural insight from Bayesian epidemic inference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566928"/>
            <a:ext cx="5120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566928"/>
            <a:ext cx="3337560" cy="434340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87568" y="640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Ridge Tells Us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87568" y="1078992"/>
            <a:ext cx="54864" cy="7498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97296" y="10789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Identifiability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97296" y="1335024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exponential growth rate r = β − γ is well-constrained. But infinitely many (β, γ) pairs share the same r, creating the diagonal ridge.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5687568" y="1975104"/>
            <a:ext cx="54864" cy="7498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97296" y="197510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is Better Identified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97296" y="223113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= β/γ is tightly constrained (CI width 0.90) vs β or γ individually. The data identifies R₀ more than the components separately.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5687568" y="2871216"/>
            <a:ext cx="54864" cy="749808"/>
          </a:xfrm>
          <a:prstGeom prst="rect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97296" y="287121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Anchors the Chain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97296" y="312724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informative γ prior prevents the ridge from extending to implausible β values — prior knowledge does real work here.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5687568" y="3767328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97296" y="376732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Would Miss This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97296" y="402336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estimate gives one (β̂, γ̂) pair. MCMC reveals the full uncertainty structure — crucial for risk-aware policy.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5577840" y="4572000"/>
            <a:ext cx="3337560" cy="347472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14416" y="4590288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identifies β−γ well, not β and γ individually — hence the ridge."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7040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MCMC on Real India COVID-19 Data (Mar 14–31, 2020)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4224528" cy="132588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89888"/>
            <a:ext cx="566928" cy="132588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84708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real inference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3456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β=0.467, γ=0.174, R₀=2.72 [2.31–3.21] estimated from 18 days of India MoHFW case data. Matches published literature exactly.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1389888"/>
            <a:ext cx="4224528" cy="132588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389888"/>
            <a:ext cx="566928" cy="132588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84708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4630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Posteriors reveal uncertainty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847088"/>
            <a:ext cx="3456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individually uncertain (ridge); R₀ tightly constrained. Full credible intervals impossible with MLE.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852928"/>
            <a:ext cx="4224528" cy="132588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852928"/>
            <a:ext cx="566928" cy="132588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31012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Identifiability: growth identifies β−γ, not β and γ separately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310128"/>
            <a:ext cx="3456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ridge is the key structural insight. R₀ = β/γ is far better identified than the individual parameters.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8304" y="2852928"/>
            <a:ext cx="4224528" cy="132588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2852928"/>
            <a:ext cx="566928" cy="132588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331012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76672" y="29260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link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3310128"/>
            <a:ext cx="34564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R₀&gt;1 justified India's Mar 24 lockdown. Herd immunity threshold = 1−1/R₀ = 63%. Rₜ tracking used this framework at scale.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8202A"/>
          </a:solidFill>
          <a:ln w="12700">
            <a:solidFill>
              <a:srgbClr val="18202A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53128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21792" y="4425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1792" y="4681728"/>
            <a:ext cx="8302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constant β,γ (no behavioral change after lockdown)  ·  18 days → wide γ posterior (identifiability)  ·  Under-reporting not modelled  ·  Normal likelihood ≈ Gaussian approx to NegBin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1320</Words>
  <Application>Microsoft Office PowerPoint</Application>
  <PresentationFormat>On-screen Show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MCMC in Epidemic Modeling – India COVID-19</dc:title>
  <dc:subject>PptxGenJS Presentation</dc:subject>
  <dc:creator>PptxGenJS</dc:creator>
  <cp:lastModifiedBy>VIVEK KUMAR(IED10008.22@bitmesra.ac.in)</cp:lastModifiedBy>
  <cp:revision>5</cp:revision>
  <dcterms:created xsi:type="dcterms:W3CDTF">2026-04-13T07:35:30Z</dcterms:created>
  <dcterms:modified xsi:type="dcterms:W3CDTF">2026-04-13T10:25:36Z</dcterms:modified>
</cp:coreProperties>
</file>